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dự đoán "Recommend or Not" từ review ITViec bằng phân loại nhị phân Yes/No. Dữ liệu gồm 8.417 review, làm trên Scikit-learn và PySpark.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Bài toán: từ văn bản review và 6 chỉ số rating, dự đoán review có khuyên ứng tuyển (Yes) hay cảnh báo (No), kèm xác suất.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Dữ liệu gồm 3 file với vai trò khác nhau. Overview_Reviews chỉ dùng cho EDA để tránh target leakage; Reviews là nguồn chính cho Classification. Công ty ẩn đánh giá không có điểm chi tiết; id, Company Name, Cmt_day không dùng làm predictor.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Dữ liệu lệch: Yes 87,74%, No 12,26%. Đoán toàn Yes vẫn đạt Accuracy ~87,7% nhưng F1_No = 0, nên nhóm tập trung vào F1_No.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Các rating tương quan mạnh nhưng chưa phải leakage, vì người dùng nhập đồng thời lúc viết review. Nhóm sẽ kiểm định lại ở phần sau.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Nhóm chia Stratified 80/20 (6.733 train, 1.684 test) trước, rồi chỉ dùng class weight trên tập train để test không bị ảnh hưởng.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Hai pipeline, sklearn và PySpark, gồm bốn model, dùng cùng cách chia train/test để so sánh công bằng.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dẫn đầu với F1_No 0,6972 nên được chọn. F1_No cân bằng precision/recall; Recall_No cho biết mức bỏ sót review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bắt đúng 160 review No và bỏ sót 46. ROC cho thấy Decision Tree yếu nhất với AUC 0,846.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PySpark thấp hơn sklearn, nhưng Random Forest vẫn dẫn đầu với F1_No 0,6165, nên kết luận nhất quán ở cả hai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hợp text và rating tốt nhất (F1_No 0,6703). Holdout 36 công ty đạt 0,7137; bỏ Overall Rating còn 0,6351, model vẫn ổn.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Forest với text và rating cho kết quả tốt nhất ở cả hai pipeline. Nhóm đề xuất Review Analyzer, hiện mới ở mức ý tưởng, chưa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Xin cảm ơn thầy cô và các bạn. Mời mọi người đặt câu hỏi và góp 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2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image" Target="../media/image-3-8.jpe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3.png"/><Relationship Id="rId6" Type="http://schemas.openxmlformats.org/officeDocument/2006/relationships/image" Target="../media/image-8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2.png"/><Relationship Id="rId5" Type="http://schemas.openxmlformats.org/officeDocument/2006/relationships/image" Target="../media/image-1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305392" cy="51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91729"/>
            <a:ext cx="10868745" cy="1553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Dự đoán "Recommend or Not" từ review ITViec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61475" y="3103265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Thành viên: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61475" y="3577927"/>
            <a:ext cx="10868745" cy="964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Văn Tư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Phạm Khánh Hưng</a:t>
            </a:r>
            <a:endParaRPr lang="en-US" sz="1400" dirty="0"/>
          </a:p>
          <a:p>
            <a:pPr algn="l" marL="284480" indent="-28448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Thị Mai Qui Ri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61475" y="4735612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Phân loại ý định giới thiệu ứng tuyển dựa trên văn bản đánh giá và bộ chỉ số rating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5210274"/>
            <a:ext cx="3508486" cy="1038820"/>
          </a:xfrm>
          <a:prstGeom prst="roundRect">
            <a:avLst>
              <a:gd name="adj" fmla="val 7284"/>
            </a:avLst>
          </a:prstGeom>
          <a:solidFill>
            <a:srgbClr val="FFD2CC"/>
          </a:solidFill>
          <a:ln w="6350">
            <a:solidFill>
              <a:srgbClr val="E5B8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7902" y="5396706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Nhiệm vụ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7902" y="5781179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Binary Classification (Yes vs. No)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1605" y="5210274"/>
            <a:ext cx="3508486" cy="1038820"/>
          </a:xfrm>
          <a:prstGeom prst="roundRect">
            <a:avLst>
              <a:gd name="adj" fmla="val 7284"/>
            </a:avLst>
          </a:prstGeom>
          <a:solidFill>
            <a:srgbClr val="FFD2CC"/>
          </a:solidFill>
          <a:ln w="6350">
            <a:solidFill>
              <a:srgbClr val="E5B8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8032" y="5396706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Dữ liệu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528032" y="5781179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8.417 reviews từ ITViec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21734" y="5210274"/>
            <a:ext cx="3508486" cy="1038820"/>
          </a:xfrm>
          <a:prstGeom prst="roundRect">
            <a:avLst>
              <a:gd name="adj" fmla="val 7284"/>
            </a:avLst>
          </a:prstGeom>
          <a:solidFill>
            <a:srgbClr val="FFD2CC"/>
          </a:solidFill>
          <a:ln w="6350">
            <a:solidFill>
              <a:srgbClr val="E5B8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8162" y="5396706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Môi trường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8208162" y="5781179"/>
            <a:ext cx="31356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 &amp; PySpark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7079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Bài toán: review này có khuyên người khác ứng tuyển không?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475" y="2010668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Xác định xác suất một đánh giá thuộc nhóm tích cực (khuyên ứng tuyển) hay tiêu cực (cảnh báo).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070126"/>
            <a:ext cx="3500747" cy="952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7505" y="3811488"/>
            <a:ext cx="312868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Input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47505" y="4212034"/>
            <a:ext cx="3128686" cy="188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Review text:</a:t>
            </a:r>
            <a:pPr algn="l" indent="0" marL="0">
              <a:lnSpc>
                <a:spcPct val="132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Title, What I liked, Suggestions for improvement</a:t>
            </a:r>
            <a:endParaRPr lang="en-US" sz="14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 rating: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Rating, Salary &amp; benefits, Training &amp; learning, Management cares about me, Culture &amp; fun, Office &amp; workspace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375" y="2791023"/>
            <a:ext cx="3500846" cy="9525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31405" y="3532386"/>
            <a:ext cx="312878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Mô hình phân loại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4531405" y="3932932"/>
            <a:ext cx="312878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Học từ text và rating để phân loại review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374" y="2511921"/>
            <a:ext cx="3500747" cy="952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15405" y="3253284"/>
            <a:ext cx="3128686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8215405" y="3653830"/>
            <a:ext cx="312868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Dự đoán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Recommend?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Yes (khuyên ứng tuyển) hoặc No (cảnh báo), kèm xác suất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305392" cy="514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35968"/>
            <a:ext cx="10868745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file dữ liệu ITViec, dữ liệu mẫu Reviews và lưu ý</a:t>
            </a:r>
            <a:endParaRPr lang="en-US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87748"/>
            <a:ext cx="5802663" cy="121096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6163" y="2166243"/>
            <a:ext cx="536948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Overview_Companies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916163" y="2549922"/>
            <a:ext cx="536948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478 công ty: loại hình, lĩnh vực, quy mô, quốc gia, chính sách OT… Dùng cho Recommendation.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33254"/>
            <a:ext cx="5802663" cy="14461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6163" y="3511748"/>
            <a:ext cx="536948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Overview_Reviews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916163" y="3895427"/>
            <a:ext cx="5369485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Điểm tổng hợp theo công ty: Overall rating, 5 tiêu chí, tỷ lệ Recommend friend. Chỉ để hiểu dữ liệu/EDA, không đưa vào classifier vì nguy cơ target leakage.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913908"/>
            <a:ext cx="5802663" cy="121096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6163" y="5092402"/>
            <a:ext cx="5369485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Reviews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916163" y="5476081"/>
            <a:ext cx="536948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8.417 bình luận của 180 công ty: Title, What I liked, Suggestions, 6 rating, Recommend? Yes/No. Nguồn chính cho Classification.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9614" y="2516684"/>
            <a:ext cx="4676856" cy="18838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59614" y="4551859"/>
            <a:ext cx="4676856" cy="1074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950"/>
              </a:spcAft>
              <a:buNone/>
            </a:pPr>
            <a:r>
              <a:rPr lang="en-US" sz="12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Dữ liệu mẫu file Reviews</a:t>
            </a:r>
            <a:endParaRPr lang="en-US" sz="12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Lưu ý: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Công ty có Overall rating 0.0 hoặc đã ẩn đánh giá thì không có điểm chi tiết. Không dùng làm predictor: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Name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Cmt_day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7952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Dữ liệu mất cân bằng: Yes 87,74%, No 12,26%</a:t>
            </a:r>
            <a:endParaRPr lang="en-US" sz="2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248098"/>
            <a:ext cx="3746406" cy="2476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2336" y="2340471"/>
            <a:ext cx="384413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Yes: 7.385 (87,74%)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692336" y="2770485"/>
            <a:ext cx="384413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No: 1.032 (12,26%)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692336" y="3200499"/>
            <a:ext cx="384413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Tổng: 8.417 review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692336" y="3743920"/>
            <a:ext cx="3844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Đoán toàn Yes vẫn đạt Accuracy ~87,7% nhưng F1_No = 0, nên cần xét F1_No thay vì chỉ Accuracy.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97868"/>
            <a:ext cx="10868745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Rating tương quan mạnh với nhau, nhưng chưa phải leakage</a:t>
            </a:r>
            <a:endParaRPr lang="en-US" sz="2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424311"/>
            <a:ext cx="4228994" cy="3111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859614" y="1949648"/>
            <a:ext cx="4676856" cy="1185565"/>
          </a:xfrm>
          <a:prstGeom prst="roundRect">
            <a:avLst>
              <a:gd name="adj" fmla="val 5650"/>
            </a:avLst>
          </a:prstGeom>
          <a:solidFill>
            <a:srgbClr val="FFD2CC"/>
          </a:solidFill>
          <a:ln w="6350">
            <a:solidFill>
              <a:srgbClr val="E5B8B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025405" y="2115443"/>
            <a:ext cx="434527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Cùng thời điểm phát sinh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025405" y="2499122"/>
            <a:ext cx="434527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Rating có tương quan rất chặt với Recommend, nhưng do chính người dùng nhập đồng thời tại thời điểm viết review.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859614" y="3269754"/>
            <a:ext cx="4676856" cy="1185565"/>
          </a:xfrm>
          <a:prstGeom prst="roundRect">
            <a:avLst>
              <a:gd name="adj" fmla="val 5650"/>
            </a:avLst>
          </a:prstGeom>
          <a:solidFill>
            <a:srgbClr val="FFD2CC"/>
          </a:solidFill>
          <a:ln w="6350">
            <a:solidFill>
              <a:srgbClr val="E5B8B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025405" y="3435548"/>
            <a:ext cx="434527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Định nghĩa rò rỉ (Leakage)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7025405" y="3819227"/>
            <a:ext cx="434527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Chỉ coi là rò rỉ khi feature được phái sinh từ target hoặc xuất hiện sau khi đã biết trước nhãn target trong thực tế.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9614" y="4589859"/>
            <a:ext cx="4676856" cy="1420713"/>
          </a:xfrm>
          <a:prstGeom prst="roundRect">
            <a:avLst>
              <a:gd name="adj" fmla="val 4715"/>
            </a:avLst>
          </a:prstGeom>
          <a:solidFill>
            <a:srgbClr val="FFD2CC"/>
          </a:solidFill>
          <a:ln w="6350">
            <a:solidFill>
              <a:srgbClr val="E5B8B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025405" y="4755654"/>
            <a:ext cx="434527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Tương quan cao nhất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025405" y="5139333"/>
            <a:ext cx="434527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Rating tương quan mạnh nhất (ô sáng nhất ngoài đường chéo) với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Management cares about me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và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Salary &amp; benefits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79525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Chuẩn bị dữ liệu: tách train/test trước, xử lý imbalance chỉ trên train</a:t>
            </a:r>
            <a:endParaRPr lang="en-US" sz="29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358555"/>
            <a:ext cx="2575357" cy="25566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3761978"/>
            <a:ext cx="214654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Làm sạch &amp; ghép text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4465935"/>
            <a:ext cx="2146544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Gộp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What I liked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Suggestions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thành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review_text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rồi chuẩn hóa ký tự.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839" y="3074988"/>
            <a:ext cx="2575456" cy="28402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40245" y="3478411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Gán nhãn thiểu số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3640245" y="4182368"/>
            <a:ext cx="2146643" cy="1518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Thiết lập 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label_no = 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cho lớp No để các thước đo (precision, recall, F1) tập trung tối ưu vào nhóm thiểu số.</a:t>
            </a:r>
            <a:endParaRPr lang="en-US" sz="14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0301" y="2791420"/>
            <a:ext cx="2575456" cy="31238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4708" y="3194844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Chia Stratified 80/20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404708" y="3898801"/>
            <a:ext cx="21466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Bảo toàn tỉ lệ lớp: tập Train gồm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6.733 dòng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tập Test độc lập gồm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1.684 dòng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54764" y="2507952"/>
            <a:ext cx="2575456" cy="34072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69171" y="2911376"/>
            <a:ext cx="214664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Xử lý mất cân bằng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9169171" y="3615333"/>
            <a:ext cx="214664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Áp dụng class weight trong quá trình fit model; tuyệt đối không resample hay can thiệp tập Test.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7952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Hai pipeline, bốn model: sklearn và PySpark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203547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Huấn luyện trên cùng số dòng Train/Test để đảm bảo tính so sánh khách quan và nhất quán.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61475" y="2739529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Pipeline Scikit-learn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61475" y="328295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TF-IDF 3.000 feature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StandardScaler cho rating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Ghép text + số rồi huấn luyện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332776" y="2739529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Pipeline PySpark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332776" y="3282950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Tokenizer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HashingTF + IDF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VectorAssembler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61475" y="457289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 model: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Logistic Regression · Linear SVM · Decision Tree · Random Forest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148953"/>
            <a:ext cx="10868745" cy="3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Scikit-learn: Random Forest dẫn đầu với F1_No 0,6972</a:t>
            </a:r>
            <a:endParaRPr lang="en-US" sz="2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63415"/>
            <a:ext cx="5825384" cy="335289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31735" y="2917130"/>
            <a:ext cx="4704736" cy="1045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Random Forest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F1_No 0,6972 · Accuracy 0,9175 · ROC-AUC 0,9485</a:t>
            </a:r>
            <a:endParaRPr lang="en-US" sz="1050" dirty="0"/>
          </a:p>
          <a:p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Logistic Regression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F1_No 0,6703 · Recall_No 0,8932 · ROC-AUC 0,9587</a:t>
            </a:r>
            <a:endParaRPr lang="en-US" sz="1050" dirty="0"/>
          </a:p>
          <a:p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Linear SVM</a:t>
            </a:r>
            <a:pPr algn="l" indent="0" marL="0">
              <a:lnSpc>
                <a:spcPct val="1160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F1_No 0,6709</a:t>
            </a:r>
            <a:endParaRPr lang="en-US" sz="1050" dirty="0"/>
          </a:p>
          <a:p>
            <a:pPr algn="l" indent="0" marL="0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Decision Tree</a:t>
            </a:r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F1_No 0,5911</a:t>
            </a:r>
            <a:endParaRPr lang="en-US" sz="10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45509"/>
            <a:ext cx="5383375" cy="9788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95526" y="5503366"/>
            <a:ext cx="4991471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F1_No</a:t>
            </a:r>
            <a:endParaRPr lang="en-US" sz="1350" dirty="0"/>
          </a:p>
        </p:txBody>
      </p:sp>
      <p:sp>
        <p:nvSpPr>
          <p:cNvPr id="8" name="Text 3"/>
          <p:cNvSpPr/>
          <p:nvPr/>
        </p:nvSpPr>
        <p:spPr>
          <a:xfrm>
            <a:off x="895526" y="5781377"/>
            <a:ext cx="4991471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Cân bằng precision và recall khi phát hiện review No.</a:t>
            </a:r>
            <a:endParaRPr lang="en-US" sz="10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46745" y="5345509"/>
            <a:ext cx="5383475" cy="97889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80797" y="5503366"/>
            <a:ext cx="499157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Recall_No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6380797" y="5781377"/>
            <a:ext cx="499157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Tỷ lệ review No được bắt đúng; Recall cao nghĩa là ít bỏ sót review cảnh báo (Logistic Regression 0,8932).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45195"/>
            <a:ext cx="10868745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Random Forest bắt đúng 160 review No, bỏ sót 46; ROC: Decision Tree yếu nhất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906117"/>
            <a:ext cx="2070048" cy="2159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1475" y="5251946"/>
            <a:ext cx="5218280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1385 Yes đúng · 93 Yes nhầm thành No · 46 No bị bỏ sót · 160 No đúng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290" y="2567186"/>
            <a:ext cx="4381390" cy="31115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18290" y="5865515"/>
            <a:ext cx="582786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AUC: LR 0,959 · RF 0,948 · Linear SVM 0,947 · Decision Tree 0,846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20887"/>
            <a:ext cx="10868745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PySpark thấp hơn sklearn, Random Forest vẫn tốt nhất (F1_No 0,6165)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61475" y="1701602"/>
            <a:ext cx="1086874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F1_No: RF 0,6165 · DT 0,6081 · SVM 0,5372 · LR 0,4161 · ROC-AUC RF 0,9308</a:t>
            </a:r>
            <a:endParaRPr lang="en-US" sz="19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464693"/>
            <a:ext cx="5905749" cy="339923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4329" y="2410718"/>
            <a:ext cx="4552142" cy="18059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247848" y="2598043"/>
            <a:ext cx="410130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Hiệu năng các mô hình PySpark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7247848" y="3010991"/>
            <a:ext cx="4101303" cy="1018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Random Forest: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F1_No đạt 0,6165 (dẫn đầu)</a:t>
            </a:r>
            <a:endParaRPr lang="en-US" sz="13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Decision Tree: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F1_No đạt 0,6081</a:t>
            </a:r>
            <a:endParaRPr lang="en-US" sz="13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Linear SVM: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F1_No đạt 0,5372</a:t>
            </a:r>
            <a:endParaRPr lang="en-US" sz="130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Logistic Regression: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F1_No chỉ 0,4161</a:t>
            </a:r>
            <a:endParaRPr lang="en-US" sz="13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4329" y="4366617"/>
            <a:ext cx="4552142" cy="155138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247848" y="4553942"/>
            <a:ext cx="4101303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Nguyên nhân chênh lệch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7247848" y="4966891"/>
            <a:ext cx="4101303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Cơ chế biểu diễn text khác nhau (TF-IDF cố định 3.000 features vs. HashingTF trong Spark), do đó không thể quy hoàn toàn sự chênh lệch cho framework.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36960"/>
            <a:ext cx="10868745" cy="435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Kiểm định model: kết hợp text và rating cho kết quả tốt nhất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661475" y="1736824"/>
            <a:ext cx="10868745" cy="653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Combined 0,6703 · Numeric 0,6111 · Text 0,5599 · Holdout 36 cty: F1_No 0,7137, AUC 0,9664 · Bỏ Overall Rating: 0,6703 → 0,6351</a:t>
            </a:r>
            <a:endParaRPr lang="en-US" sz="2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812951"/>
            <a:ext cx="3339123" cy="19192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4912916"/>
            <a:ext cx="333912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Ablation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61475" y="5345708"/>
            <a:ext cx="333912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Combined: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F1_No 0,6703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Numeric only: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0,6111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Text only: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0,5599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991" y="2811661"/>
            <a:ext cx="3339123" cy="192186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431991" y="4914205"/>
            <a:ext cx="333912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Unseen Companies (36 cty)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4431991" y="5346998"/>
            <a:ext cx="333912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F1_No: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0,7137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Recall_No: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0,9171</a:t>
            </a:r>
            <a:endParaRPr lang="en-US" sz="13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</a:t>
            </a:r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ROC-AUC: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0,9664 (tổng quát tốt)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507" y="2811661"/>
            <a:ext cx="3339123" cy="192186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02507" y="4914205"/>
            <a:ext cx="333912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Độ nhạy Overall Rating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8202507" y="5346998"/>
            <a:ext cx="333912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Bỏ Overall Rating: F1_No giảm nhẹ từ 0,6703 xuống 0,6351, chứng minh model không sụp đổ khi thiếu điểm tổng quan.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19807"/>
            <a:ext cx="6470488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7079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Kết luận và ý tưởng triển khai Review Analyzer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661475" y="2216646"/>
            <a:ext cx="2512156" cy="3516114"/>
          </a:xfrm>
          <a:prstGeom prst="roundRect">
            <a:avLst>
              <a:gd name="adj" fmla="val 3111"/>
            </a:avLst>
          </a:prstGeom>
          <a:solidFill>
            <a:srgbClr val="FFD2CC"/>
          </a:solidFill>
          <a:ln w="6350">
            <a:solidFill>
              <a:srgbClr val="E5B8B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3855" y="2409031"/>
            <a:ext cx="21273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Lựa chọn mô hình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53855" y="2882900"/>
            <a:ext cx="2127395" cy="2657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Không có model nào thắng tuyệt đối mọi metric. Doanh nghiệp chọn theo mục tiêu: ưu tiên phát hiện tối đa review tiêu cực (Logistic Regression) hay cân bằng chính xác (Random Forest).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356784" y="2216646"/>
            <a:ext cx="2512156" cy="3516114"/>
          </a:xfrm>
          <a:prstGeom prst="roundRect">
            <a:avLst>
              <a:gd name="adj" fmla="val 3111"/>
            </a:avLst>
          </a:prstGeom>
          <a:solidFill>
            <a:srgbClr val="FFD2CC"/>
          </a:solidFill>
          <a:ln w="6350">
            <a:solidFill>
              <a:srgbClr val="E5B8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49164" y="2409031"/>
            <a:ext cx="212739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Trạng thái triển khai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549164" y="2882900"/>
            <a:ext cx="212739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Hệ thống hiện dừng ở mức đề xuất kiến trúc và pipeline ý tưởng nghiên cứu, chưa deploy chính thức lên môi trường production.</a:t>
            </a:r>
            <a:endParaRPr lang="en-US" sz="14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9105" y="2216646"/>
            <a:ext cx="2512156" cy="35144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45586" y="2343547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6540535" y="2983409"/>
            <a:ext cx="2089296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Pipeline xử lý dự kiến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40535" y="3747988"/>
            <a:ext cx="2089296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Nhận review text &amp; 6 rating → Tiền xử lý &amp; trích xuất đặc trưng → Classifier phân loại → Trả về nhãn Yes/No kèm điểm xác suất tin cậy.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4414" y="2216646"/>
            <a:ext cx="2512156" cy="35144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140895" y="2343547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50" dirty="0"/>
          </a:p>
        </p:txBody>
      </p:sp>
      <p:sp>
        <p:nvSpPr>
          <p:cNvPr id="16" name="Text 11"/>
          <p:cNvSpPr/>
          <p:nvPr/>
        </p:nvSpPr>
        <p:spPr>
          <a:xfrm>
            <a:off x="9235844" y="2983409"/>
            <a:ext cx="2089296" cy="581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Cơ chế giám sát vận hành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9235844" y="3747988"/>
            <a:ext cx="2089296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Theo dõi hiện tượng Data Drift phân bố rating/từ khóa, ghi nhận phản hồi người dùng khi dự đoán sai, thiết lập chu kỳ huấn luyện lại tự động.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36269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772" y="927298"/>
            <a:ext cx="5956151" cy="50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30416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Cảm ơn đã lắng nghe!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91576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Rất mong nhận được góp ý từ thầy cô và các bạn.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1475" y="4501654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Thành viên nhóm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661475" y="5139531"/>
            <a:ext cx="1086874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Văn Tư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Phạm Khánh Hưng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Nguyễn Thị Mai Qui Ri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2026-10-02T19:35:27Z</dcterms:created>
  <dcterms:modified xsi:type="dcterms:W3CDTF">2026-10-02T19:35:27Z</dcterms:modified>
</cp:coreProperties>
</file>